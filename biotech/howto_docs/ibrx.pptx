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8" autoAdjust="0"/>
    <p:restoredTop sz="94660"/>
  </p:normalViewPr>
  <p:slideViewPr>
    <p:cSldViewPr snapToGrid="0">
      <p:cViewPr>
        <p:scale>
          <a:sx n="100" d="100"/>
          <a:sy n="100" d="100"/>
        </p:scale>
        <p:origin x="1086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Shares: 667,710,000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E91-4D89-8F54-587CA97BF6B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E91-4D89-8F54-587CA97BF6B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Float</c:v>
                </c:pt>
                <c:pt idx="1">
                  <c:v>Insider ownership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 formatCode="General">
                  <c:v>131138244</c:v>
                </c:pt>
                <c:pt idx="1">
                  <c:v>536571756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D6-4FCF-9F33-5A641AF63012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0A8-4954-8074-647C267BBC0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0A8-4954-8074-647C267BBC0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0A8-4954-8074-647C267BBC0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0A8-4954-8074-647C267BBC0E}"/>
              </c:ext>
            </c:extLst>
          </c:dPt>
          <c:cat>
            <c:strRef>
              <c:f>Sheet1!$A$2:$A$5</c:f>
              <c:strCache>
                <c:ptCount val="4"/>
                <c:pt idx="0">
                  <c:v>Retail float</c:v>
                </c:pt>
                <c:pt idx="1">
                  <c:v>Institutional float</c:v>
                </c:pt>
                <c:pt idx="2">
                  <c:v>Float: Shorted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70956244</c:v>
                </c:pt>
                <c:pt idx="1">
                  <c:v>60182000</c:v>
                </c:pt>
                <c:pt idx="2">
                  <c:v>51547481</c:v>
                </c:pt>
                <c:pt idx="3" formatCode="General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9E-432E-9D2B-E0E19EEDE7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8EF75-56F5-4807-7357-4BA0F356E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A369B-5AAC-81DB-D1A2-7775A2C68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D2A03-8EF3-2F52-ED7E-55C58D047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52926-62B5-4E12-B8B7-1AAA841B5771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AD4D1-8893-11B3-78D1-7A1DDEE8D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7D586-DFB0-E99A-B01D-665DC27B2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A9A5-6A1F-4FF9-BF40-8A29BF8F1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55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21743-3B93-917F-5020-F9B36043C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8991F-3318-5981-72CC-CDA34EA0A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60E08-81F3-5BCC-0043-9B5311CD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52926-62B5-4E12-B8B7-1AAA841B5771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B8642-F8EE-AA45-D869-7DD586EC2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3DEFA-0EB2-1240-2422-FDB31082C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A9A5-6A1F-4FF9-BF40-8A29BF8F1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78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69937-2379-4372-6D04-C192316F2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92273-7722-6ABF-7F1A-F2FEFA4D1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CF63D-ED46-5FE9-0CA3-A9FE5BB11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52926-62B5-4E12-B8B7-1AAA841B5771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B1617-293D-FAEB-523A-C8FB31B98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567DC-FCFD-D8A1-D6FA-3209BADB6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A9A5-6A1F-4FF9-BF40-8A29BF8F1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7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1E648-2AA7-AAF0-75C2-4A69875F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251F6-83A6-FA04-36AD-417E2C2F3C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215B0-8E1B-FC3C-82DA-4AD06CF90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50061-FA2B-60DF-0155-C242BF96F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52926-62B5-4E12-B8B7-1AAA841B5771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3FCB7-C199-E2E7-FB29-260AD540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5D14B-B377-1264-1F34-ED331091D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A9A5-6A1F-4FF9-BF40-8A29BF8F1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06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1EA86-D1D2-ABF5-6839-4A89C55E2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96CEB-7914-A7FB-08E6-160553A71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F4A41-B988-1907-27BA-B9A0417BA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723977-C475-E93C-FAAE-C2E61A6EAF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125970-3D20-5B29-0BEA-D6552F7DBC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1DD891-9341-7EAF-CA33-31342C556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52926-62B5-4E12-B8B7-1AAA841B5771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A17BBA-A549-C6CD-7F1F-1418ACAD6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F732E-EFFD-9B41-3850-9430AB75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A9A5-6A1F-4FF9-BF40-8A29BF8F1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979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15EBC-27ED-EB8D-2356-8E5E476CB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0E0B53-1946-D7DD-B509-E0158CFE0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52926-62B5-4E12-B8B7-1AAA841B5771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16CE7E-F51A-9BDE-A547-C171439B4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E807B-2F17-A5D7-0C91-66FA79EED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A9A5-6A1F-4FF9-BF40-8A29BF8F1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9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687B3-EB7B-90CF-AE25-5CB4E2663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52926-62B5-4E12-B8B7-1AAA841B5771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E3113-4B0C-5569-8D70-FB30CF317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419D0-865B-CB45-AD85-7F67A65F4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A9A5-6A1F-4FF9-BF40-8A29BF8F1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51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3C24-61DA-C315-D722-3DC20296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5A4F9-D90A-B851-F601-5D965B3C1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AAF2E-9FD7-010A-A637-04CA4FDE9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BACF-3ABF-954D-4E98-4423EEA95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52926-62B5-4E12-B8B7-1AAA841B5771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74A48-24FC-51F5-320A-3CC6BDF5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C0FDD-CE37-7342-FEA9-5E06752ED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A9A5-6A1F-4FF9-BF40-8A29BF8F1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1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E053C-37D6-0251-96D4-B5B19D924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16528-8A01-AC8C-BB57-80D02CA5C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B7A443-DF65-0873-2B35-3EEE15CB5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E3264-EFE5-52CF-6111-0E559F561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52926-62B5-4E12-B8B7-1AAA841B5771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A7687-B844-5FF6-DF0B-A2C57F1C3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9C6BA-724E-8DCB-C925-A570CA308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A9A5-6A1F-4FF9-BF40-8A29BF8F1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43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26D2-DA06-EF86-DBA2-D484BF492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9862D-9B4A-4F8E-3F44-A742C9C34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C017-3BE1-0DE3-476B-5E443A5BC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52926-62B5-4E12-B8B7-1AAA841B5771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E01A7-7999-20ED-01BA-8F6EB750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40E05-E79F-A878-F2A2-437B2BD6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A9A5-6A1F-4FF9-BF40-8A29BF8F1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8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1D35F3-2236-05E0-4CEC-658DF2E97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1B181-4573-8727-559D-5ED9DDE23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B5AA6-3A60-3C78-4A2B-6C71A6445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52926-62B5-4E12-B8B7-1AAA841B5771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84E31-4E87-46BE-744B-02F134FCC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3709F-2B18-D1EF-8847-A4E40B91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A9A5-6A1F-4FF9-BF40-8A29BF8F1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68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AA3C91-E5FF-1F86-D006-3EEEC48AC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3F34A-B9AF-1607-DA12-3B21B5E35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7EC0A-ECDB-A94F-D4C8-179A61EBB3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52926-62B5-4E12-B8B7-1AAA841B5771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6749F-EF43-946B-F3CC-D5936BBDAE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1B245-56EC-2574-9B21-561EF6D1B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1A9A5-6A1F-4FF9-BF40-8A29BF8F1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75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FE1A6-4D36-4191-CECE-31F282305D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CB094-DAA1-41B2-1DD4-D75320D516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874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F177FB4-41B0-77CD-5C60-FE93A140D2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762771"/>
              </p:ext>
            </p:extLst>
          </p:nvPr>
        </p:nvGraphicFramePr>
        <p:xfrm>
          <a:off x="4903596" y="1825625"/>
          <a:ext cx="6450204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39905D65-4A8E-39A4-7EBD-79C437B561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41715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71C9C86-B8EB-76E5-2B63-54F6C61780F8}"/>
              </a:ext>
            </a:extLst>
          </p:cNvPr>
          <p:cNvSpPr txBox="1"/>
          <p:nvPr/>
        </p:nvSpPr>
        <p:spPr>
          <a:xfrm>
            <a:off x="333741" y="112290"/>
            <a:ext cx="60943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04040"/>
                </a:solidFill>
                <a:effectLst/>
                <a:latin typeface="MaisonNeue"/>
              </a:rPr>
              <a:t>ImmunityBio, Inc. (US:IBRX) has 273 institutional owners and shareholders that have filed 13D/G or 13F forms with the (SEC). Largest shareholders include Vanguard Group Inc, BlackRock Inc., State Street Corp, XBI - SPDR(R) S&amp;P(R) Biotech ETF, VTSMX - Vanguard Total Stock Market Index Fund Investor Shares, IWM - iShares Russell 2000 ETF, NAESX - Vanguard Small-Cap Index 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MaisonNeue"/>
              </a:rPr>
              <a:t>Fund</a:t>
            </a:r>
            <a:r>
              <a:rPr lang="en-US" b="0" i="0" dirty="0">
                <a:solidFill>
                  <a:srgbClr val="404040"/>
                </a:solidFill>
                <a:effectLst/>
                <a:latin typeface="MaisonNeue"/>
              </a:rPr>
              <a:t> Investor Shares, Geode Capital Management, </a:t>
            </a:r>
            <a:r>
              <a:rPr lang="en-US" b="0" i="0" dirty="0" err="1">
                <a:solidFill>
                  <a:srgbClr val="404040"/>
                </a:solidFill>
                <a:effectLst/>
                <a:latin typeface="MaisonNeue"/>
              </a:rPr>
              <a:t>Llc</a:t>
            </a:r>
            <a:r>
              <a:rPr lang="en-US" b="0" i="0" dirty="0">
                <a:solidFill>
                  <a:srgbClr val="404040"/>
                </a:solidFill>
                <a:effectLst/>
                <a:latin typeface="MaisonNeue"/>
              </a:rPr>
              <a:t>, VEXMX - Vanguard Extended Market Index Fund Investor Shares, and VISGX - Vanguard Small-Cap Growth Index Fund Investor Shares.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086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38195B-93CA-FD24-8779-12C46E900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775" y="2369915"/>
            <a:ext cx="1523810" cy="15238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4296B0-C879-5084-BB64-E285F579E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585" y="1252781"/>
            <a:ext cx="6685714" cy="3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721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117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MaisonNeue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Rogers</dc:creator>
  <cp:lastModifiedBy>Ben Rogers</cp:lastModifiedBy>
  <cp:revision>3</cp:revision>
  <dcterms:created xsi:type="dcterms:W3CDTF">2024-03-13T17:51:45Z</dcterms:created>
  <dcterms:modified xsi:type="dcterms:W3CDTF">2024-03-14T19:24:04Z</dcterms:modified>
</cp:coreProperties>
</file>